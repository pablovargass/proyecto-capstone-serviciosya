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7">
  <p:sldMasterIdLst>
    <p:sldMasterId id="2147483676" r:id="rId4"/>
  </p:sldMasterIdLst>
  <p:notesMasterIdLst>
    <p:notesMasterId r:id="rId22"/>
  </p:notesMasterIdLst>
  <p:sldIdLst>
    <p:sldId id="256" r:id="rId5"/>
    <p:sldId id="594" r:id="rId6"/>
    <p:sldId id="602" r:id="rId7"/>
    <p:sldId id="595" r:id="rId8"/>
    <p:sldId id="603" r:id="rId9"/>
    <p:sldId id="597" r:id="rId10"/>
    <p:sldId id="604" r:id="rId11"/>
    <p:sldId id="598" r:id="rId12"/>
    <p:sldId id="605" r:id="rId13"/>
    <p:sldId id="599" r:id="rId14"/>
    <p:sldId id="606" r:id="rId15"/>
    <p:sldId id="600" r:id="rId16"/>
    <p:sldId id="607" r:id="rId17"/>
    <p:sldId id="601" r:id="rId18"/>
    <p:sldId id="608" r:id="rId19"/>
    <p:sldId id="609" r:id="rId20"/>
    <p:sldId id="348" r:id="rId21"/>
  </p:sldIdLst>
  <p:sldSz cx="9144000" cy="6858000" type="screen4x3"/>
  <p:notesSz cx="6858000" cy="9144000"/>
  <p:embeddedFontLst>
    <p:embeddedFont>
      <p:font typeface="Bebas Neue" panose="020B0606020202050201" pitchFamily="34" charset="0"/>
      <p:regular r:id="rId23"/>
    </p:embeddedFont>
    <p:embeddedFont>
      <p:font typeface="Franklin Gothic" panose="020B0604020202020204" charset="0"/>
      <p:regular r:id="rId24"/>
      <p:bold r:id="rId25"/>
      <p:italic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Rodrigo Galaz Silva" initials="VRGS" lastIdx="1" clrIdx="0">
    <p:extLst>
      <p:ext uri="{19B8F6BF-5375-455C-9EA6-DF929625EA0E}">
        <p15:presenceInfo xmlns:p15="http://schemas.microsoft.com/office/powerpoint/2012/main" userId="Victor Rodrigo Galaz Sil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08"/>
  </p:normalViewPr>
  <p:slideViewPr>
    <p:cSldViewPr snapToGrid="0" snapToObjects="1">
      <p:cViewPr varScale="1">
        <p:scale>
          <a:sx n="78" d="100"/>
          <a:sy n="78" d="100"/>
        </p:scale>
        <p:origin x="151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Vargas" userId="c2115f42999828b7" providerId="LiveId" clId="{8D7075E3-9DB2-46A0-BECA-1563CCAF5866}"/>
    <pc:docChg chg="custSel modSld">
      <pc:chgData name="Pablo Vargas" userId="c2115f42999828b7" providerId="LiveId" clId="{8D7075E3-9DB2-46A0-BECA-1563CCAF5866}" dt="2026-09-02T22:56:01.649" v="45" actId="20577"/>
      <pc:docMkLst>
        <pc:docMk/>
      </pc:docMkLst>
      <pc:sldChg chg="modSp mod">
        <pc:chgData name="Pablo Vargas" userId="c2115f42999828b7" providerId="LiveId" clId="{8D7075E3-9DB2-46A0-BECA-1563CCAF5866}" dt="2026-09-02T22:56:01.649" v="45" actId="20577"/>
        <pc:sldMkLst>
          <pc:docMk/>
          <pc:sldMk cId="2729479372" sldId="606"/>
        </pc:sldMkLst>
        <pc:spChg chg="mod">
          <ac:chgData name="Pablo Vargas" userId="c2115f42999828b7" providerId="LiveId" clId="{8D7075E3-9DB2-46A0-BECA-1563CCAF5866}" dt="2026-09-02T22:56:01.649" v="45" actId="20577"/>
          <ac:spMkLst>
            <pc:docMk/>
            <pc:sldMk cId="2729479372" sldId="606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1447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3392f1e7f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63392f1e7f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570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3392f1e7f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3392f1e7f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76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userDrawn="1">
  <p:cSld name="TITLE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1" y="0"/>
            <a:ext cx="4629587" cy="6858000"/>
          </a:xfrm>
          <a:custGeom>
            <a:avLst/>
            <a:gdLst/>
            <a:ahLst/>
            <a:cxnLst/>
            <a:rect l="l" t="t" r="r" b="b"/>
            <a:pathLst>
              <a:path w="6172782" h="6858000" extrusionOk="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" y="11958"/>
            <a:ext cx="4518116" cy="6840855"/>
          </a:xfrm>
          <a:custGeom>
            <a:avLst/>
            <a:gdLst/>
            <a:ahLst/>
            <a:cxnLst/>
            <a:rect l="l" t="t" r="r" b="b"/>
            <a:pathLst>
              <a:path w="6024154" h="6858000" extrusionOk="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spcFirstLastPara="1" wrap="square" lIns="91425" tIns="0" rIns="182875" bIns="0" anchor="t" anchorCtr="0">
            <a:no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2pPr>
            <a:lvl3pPr lvl="2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3pPr>
            <a:lvl4pPr lvl="3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4pPr>
            <a:lvl5pPr lvl="4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5pPr>
            <a:lvl6pPr lvl="5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6pPr>
            <a:lvl7pPr lvl="6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7pPr>
            <a:lvl8pPr lvl="7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8pPr>
            <a:lvl9pPr lvl="8" algn="r" rtl="0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13;p2">
            <a:extLst>
              <a:ext uri="{FF2B5EF4-FFF2-40B4-BE49-F238E27FC236}">
                <a16:creationId xmlns:a16="http://schemas.microsoft.com/office/drawing/2014/main" id="{64854533-8DCC-1C49-8946-547AD8D47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6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TITLE_4_1_1">
    <p:bg>
      <p:bgPr>
        <a:solidFill>
          <a:schemeClr val="dk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9" name="Google Shape;19;p3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3" descr="Una caricatura de una ciudad&#10;&#10;Descripción generada automáticamente"/>
            <p:cNvPicPr preferRelativeResize="0"/>
            <p:nvPr/>
          </p:nvPicPr>
          <p:blipFill rotWithShape="1">
            <a:blip r:embed="rId3">
              <a:alphaModFix/>
            </a:blip>
            <a:srcRect l="9870" r="6482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29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5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>
            <a:endParaRPr lang="es-ES_tradn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preserve="1">
  <p:cSld name="Título y objetos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818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7;p1">
            <a:extLst>
              <a:ext uri="{FF2B5EF4-FFF2-40B4-BE49-F238E27FC236}">
                <a16:creationId xmlns:a16="http://schemas.microsoft.com/office/drawing/2014/main" id="{0B5789D4-A1BB-0442-8135-68C7C82B7CE3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3" userDrawn="1">
  <p:cSld name="OBJECT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rgbClr val="7027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lang="es-ES_tradnl" noProof="0" dirty="0"/>
          </a:p>
        </p:txBody>
      </p:sp>
      <p:sp>
        <p:nvSpPr>
          <p:cNvPr id="9" name="Google Shape;84;p14">
            <a:extLst>
              <a:ext uri="{FF2B5EF4-FFF2-40B4-BE49-F238E27FC236}">
                <a16:creationId xmlns:a16="http://schemas.microsoft.com/office/drawing/2014/main" id="{BB89A5F1-01F7-AA47-B434-101A27DE7BC0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ebas Neue" panose="020B0606020202050201" pitchFamily="34" charset="77"/>
            </a:endParaRPr>
          </a:p>
        </p:txBody>
      </p:sp>
      <p:sp>
        <p:nvSpPr>
          <p:cNvPr id="10" name="Google Shape;87;p14">
            <a:extLst>
              <a:ext uri="{FF2B5EF4-FFF2-40B4-BE49-F238E27FC236}">
                <a16:creationId xmlns:a16="http://schemas.microsoft.com/office/drawing/2014/main" id="{8DC17925-3C94-8F46-871B-B63E680B4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ES_tradnl" noProof="0" dirty="0"/>
          </a:p>
        </p:txBody>
      </p:sp>
      <p:sp>
        <p:nvSpPr>
          <p:cNvPr id="11" name="Google Shape;7;p1">
            <a:extLst>
              <a:ext uri="{FF2B5EF4-FFF2-40B4-BE49-F238E27FC236}">
                <a16:creationId xmlns:a16="http://schemas.microsoft.com/office/drawing/2014/main" id="{3C188FE6-8EF7-F044-9027-21CDC308C75A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7D9485-9D22-5647-86A2-61337F2EBD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</p:spPr>
        <p:txBody>
          <a:bodyPr anchor="ctr"/>
          <a:lstStyle>
            <a:lvl1pPr marL="50800" indent="0" algn="ctr">
              <a:buNone/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pic>
        <p:nvPicPr>
          <p:cNvPr id="6" name="Google Shape;12;p2">
            <a:extLst>
              <a:ext uri="{FF2B5EF4-FFF2-40B4-BE49-F238E27FC236}">
                <a16:creationId xmlns:a16="http://schemas.microsoft.com/office/drawing/2014/main" id="{0D343A73-BC54-BF4C-A259-A0C913A07B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2F63D34-FBAE-5442-A997-D0933D828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50800" indent="0" algn="ctr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s-ES_tradnl" dirty="0"/>
          </a:p>
        </p:txBody>
      </p:sp>
      <p:sp>
        <p:nvSpPr>
          <p:cNvPr id="11" name="Google Shape;165;p24">
            <a:extLst>
              <a:ext uri="{FF2B5EF4-FFF2-40B4-BE49-F238E27FC236}">
                <a16:creationId xmlns:a16="http://schemas.microsoft.com/office/drawing/2014/main" id="{ED241A5B-D2F8-1D45-8F9D-D1D4B48E7814}"/>
              </a:ext>
            </a:extLst>
          </p:cNvPr>
          <p:cNvSpPr/>
          <p:nvPr userDrawn="1"/>
        </p:nvSpPr>
        <p:spPr>
          <a:xfrm>
            <a:off x="770850" y="212725"/>
            <a:ext cx="903600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6;p24">
            <a:extLst>
              <a:ext uri="{FF2B5EF4-FFF2-40B4-BE49-F238E27FC236}">
                <a16:creationId xmlns:a16="http://schemas.microsoft.com/office/drawing/2014/main" id="{990F690A-789C-6740-B34D-11153A9BBDDB}"/>
              </a:ext>
            </a:extLst>
          </p:cNvPr>
          <p:cNvSpPr/>
          <p:nvPr userDrawn="1"/>
        </p:nvSpPr>
        <p:spPr>
          <a:xfrm>
            <a:off x="146422" y="212725"/>
            <a:ext cx="9036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chemeClr val="bg2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4;p14">
            <a:extLst>
              <a:ext uri="{FF2B5EF4-FFF2-40B4-BE49-F238E27FC236}">
                <a16:creationId xmlns:a16="http://schemas.microsoft.com/office/drawing/2014/main" id="{7FF938C0-C0B1-8543-A7DC-F3B0AA5BE94F}"/>
              </a:ext>
            </a:extLst>
          </p:cNvPr>
          <p:cNvSpPr/>
          <p:nvPr userDrawn="1"/>
        </p:nvSpPr>
        <p:spPr>
          <a:xfrm>
            <a:off x="1372975" y="212725"/>
            <a:ext cx="4806374" cy="813000"/>
          </a:xfrm>
          <a:prstGeom prst="parallelogram">
            <a:avLst>
              <a:gd name="adj" fmla="val 4531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latin typeface="Bebas Neue" panose="020B0606020202050201" pitchFamily="34" charset="77"/>
            </a:endParaRPr>
          </a:p>
        </p:txBody>
      </p:sp>
      <p:sp>
        <p:nvSpPr>
          <p:cNvPr id="15" name="Google Shape;87;p14">
            <a:extLst>
              <a:ext uri="{FF2B5EF4-FFF2-40B4-BE49-F238E27FC236}">
                <a16:creationId xmlns:a16="http://schemas.microsoft.com/office/drawing/2014/main" id="{D9228F07-B61E-0645-862B-247F10F5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945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 preserve="1">
  <p:cSld name="1_En blanco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;p1">
            <a:extLst>
              <a:ext uri="{FF2B5EF4-FFF2-40B4-BE49-F238E27FC236}">
                <a16:creationId xmlns:a16="http://schemas.microsoft.com/office/drawing/2014/main" id="{FCAE1A83-104E-8B4E-949F-BE3A9ADE6BA0}"/>
              </a:ext>
            </a:extLst>
          </p:cNvPr>
          <p:cNvSpPr txBox="1">
            <a:spLocks/>
          </p:cNvSpPr>
          <p:nvPr userDrawn="1"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LOGO-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60483" y="6287016"/>
            <a:ext cx="1687458" cy="377364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/>
          <p:cNvSpPr/>
          <p:nvPr userDrawn="1"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/>
          <p:cNvSpPr/>
          <p:nvPr userDrawn="1"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/>
          <p:cNvSpPr/>
          <p:nvPr userDrawn="1"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/>
          <p:cNvSpPr/>
          <p:nvPr userDrawn="1"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3" name="Imagen 12" descr="logo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28" y="6225296"/>
            <a:ext cx="1992643" cy="446269"/>
          </a:xfrm>
          <a:prstGeom prst="rect">
            <a:avLst/>
          </a:prstGeom>
        </p:spPr>
      </p:pic>
      <p:sp>
        <p:nvSpPr>
          <p:cNvPr id="15" name="Marcador de tex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353341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Calibri" panose="020F0502020204030204" pitchFamily="34" charset="0"/>
                <a:ea typeface="Roboto Mono"/>
                <a:cs typeface="Calibri" panose="020F0502020204030204" pitchFamily="34" charset="0"/>
                <a:sym typeface="Roboto Mon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lang="es-CL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9" r:id="rId3"/>
    <p:sldLayoutId id="2147483662" r:id="rId4"/>
    <p:sldLayoutId id="2147483678" r:id="rId5"/>
    <p:sldLayoutId id="2147483677" r:id="rId6"/>
    <p:sldLayoutId id="214748369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Roboto" panose="02000000000000000000" pitchFamily="2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spcAft>
                <a:spcPts val="200"/>
              </a:spcAft>
            </a:pPr>
            <a:r>
              <a:rPr sz="2800" b="1" dirty="0">
                <a:solidFill>
                  <a:srgbClr val="FFFFFF"/>
                </a:solidFill>
                <a:latin typeface="Arial"/>
              </a:rPr>
              <a:t>Fase 1 Proyecto APT</a:t>
            </a:r>
            <a:endParaRPr sz="2000" dirty="0"/>
          </a:p>
          <a:p>
            <a:pPr algn="r">
              <a:spcAft>
                <a:spcPts val="200"/>
              </a:spcAft>
            </a:pPr>
            <a:r>
              <a:rPr sz="2400" b="1" dirty="0" err="1">
                <a:solidFill>
                  <a:srgbClr val="FFFFFF"/>
                </a:solidFill>
                <a:latin typeface="Arial"/>
              </a:rPr>
              <a:t>ServiciosYa</a:t>
            </a:r>
            <a:endParaRPr sz="2400" b="1" dirty="0">
              <a:solidFill>
                <a:srgbClr val="FFFFFF"/>
              </a:solidFill>
              <a:latin typeface="Arial"/>
            </a:endParaRPr>
          </a:p>
          <a:p>
            <a:pPr algn="r">
              <a:spcAft>
                <a:spcPts val="200"/>
              </a:spcAft>
            </a:pPr>
            <a:endParaRPr sz="2400" b="1" dirty="0">
              <a:solidFill>
                <a:srgbClr val="FFFFFF"/>
              </a:solidFill>
              <a:latin typeface="Arial"/>
            </a:endParaRPr>
          </a:p>
          <a:p>
            <a:pPr algn="r">
              <a:spcAft>
                <a:spcPts val="200"/>
              </a:spcAft>
            </a:pPr>
            <a:r>
              <a:rPr sz="1550" b="0" dirty="0" err="1">
                <a:solidFill>
                  <a:srgbClr val="FFFFFF"/>
                </a:solidFill>
                <a:latin typeface="Arial"/>
              </a:rPr>
              <a:t>Docente</a:t>
            </a:r>
            <a:r>
              <a:rPr sz="1550" b="0" dirty="0">
                <a:solidFill>
                  <a:srgbClr val="FFFFFF"/>
                </a:solidFill>
                <a:latin typeface="Arial"/>
              </a:rPr>
              <a:t>: Reginaldo Salinas Bruna</a:t>
            </a:r>
          </a:p>
          <a:p>
            <a:pPr algn="r">
              <a:spcAft>
                <a:spcPts val="200"/>
              </a:spcAft>
            </a:pPr>
            <a:r>
              <a:rPr sz="1550" b="0" dirty="0">
                <a:solidFill>
                  <a:srgbClr val="FFFFFF"/>
                </a:solidFill>
                <a:latin typeface="Arial"/>
              </a:rPr>
              <a:t>Grupo Nº: IN03</a:t>
            </a:r>
          </a:p>
          <a:p>
            <a:pPr algn="r">
              <a:spcAft>
                <a:spcPts val="200"/>
              </a:spcAft>
            </a:pPr>
            <a:r>
              <a:rPr sz="1550" b="0" dirty="0" err="1">
                <a:solidFill>
                  <a:srgbClr val="FFFFFF"/>
                </a:solidFill>
                <a:latin typeface="Arial"/>
              </a:rPr>
              <a:t>Integrante</a:t>
            </a:r>
            <a:r>
              <a:rPr sz="1550" b="0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r">
              <a:spcAft>
                <a:spcPts val="200"/>
              </a:spcAft>
            </a:pPr>
            <a:r>
              <a:rPr sz="1550" b="1" dirty="0">
                <a:solidFill>
                  <a:srgbClr val="FFFFFF"/>
                </a:solidFill>
                <a:latin typeface="Arial"/>
              </a:rPr>
              <a:t>Pablo Vargas Vasquez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breve del proyecto 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F1B2-8AEA-0072-37AD-ACAEE89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ED88-848F-5146-1440-D2E9D012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Descripción del proyecto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normAutofit/>
          </a:bodyPr>
          <a:lstStyle/>
          <a:p>
            <a:r>
              <a:rPr sz="2400" b="1">
                <a:solidFill>
                  <a:srgbClr val="1F4E79"/>
                </a:solidFill>
              </a:rPr>
              <a:t>ServiciosYa – Plataforma de conexión y gestión de servicios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977639" cy="1691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>
            <a:norm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F4E79"/>
                </a:solidFill>
              </a:defRPr>
            </a:pPr>
            <a:r>
              <a:t>Problema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Los servicios se gestionan informalmente por redes sociales, grupos de mensajería o recomendaciones.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Esto dificulta ordenar solicitudes, comparar postulantes y realizar seguimiento.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69080"/>
            <a:ext cx="3977639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>
            <a:norm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F4E79"/>
                </a:solidFill>
              </a:defRPr>
            </a:pPr>
            <a:r>
              <a:t>Solución propuesta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ServiciosYa conectará a solicitantes de servicios con usuarios interesados en ejecutarlos.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057400"/>
            <a:ext cx="4160520" cy="3246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>
            <a:norm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F4E79"/>
                </a:solidFill>
              </a:defRPr>
            </a:pPr>
            <a:r>
              <a:t>Funcionalidades principales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Registro, inicio de sesión y gestión de perfiles.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Publicación de solicitudes, búsqueda de oportunidades y postulación.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Revisión de postulaciones, selección de usuario y seguimiento del servicio.</a:t>
            </a:r>
          </a:p>
          <a:p>
            <a:pPr algn="l">
              <a:spcAft>
                <a:spcPts val="300"/>
              </a:spcAft>
              <a:defRPr sz="1420">
                <a:solidFill>
                  <a:srgbClr val="000000"/>
                </a:solidFill>
              </a:defRPr>
            </a:pPr>
            <a:r>
              <a:t>• Calificaciones, comentarios, app móvil, plataforma web, backend y base de datos centralizada.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4184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1F4E79"/>
                </a:solidFill>
              </a:defRPr>
            </a:pPr>
            <a:r>
              <a:t>La propuesta busca centralizar y ordenar el proceso de búsqueda, oferta y gestión de servicios.</a:t>
            </a:r>
          </a:p>
        </p:txBody>
      </p:sp>
    </p:spTree>
    <p:extLst>
      <p:ext uri="{BB962C8B-B14F-4D97-AF65-F5344CB8AC3E}">
        <p14:creationId xmlns:p14="http://schemas.microsoft.com/office/powerpoint/2010/main" val="104154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el perfil de egreso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9CEA-F134-BD2A-3152-20506213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A5D0-6CAE-F8B8-33DC-9A83474E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con Perfil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Relación con el perfil de egreso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276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C4437A"/>
                </a:solidFill>
                <a:latin typeface="Arial"/>
              </a:rPr>
              <a:t>Áreas del plan de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3566160" cy="370768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Programación</a:t>
            </a:r>
            <a:r>
              <a:rPr sz="1700" dirty="0">
                <a:solidFill>
                  <a:srgbClr val="202020"/>
                </a:solidFill>
                <a:latin typeface="Arial"/>
              </a:rPr>
              <a:t> Web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Programación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Aplicaciones</a:t>
            </a:r>
            <a:r>
              <a:rPr sz="1700" dirty="0">
                <a:solidFill>
                  <a:srgbClr val="202020"/>
                </a:solidFill>
                <a:latin typeface="Arial"/>
              </a:rPr>
              <a:t> Móviles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Modelamiento</a:t>
            </a:r>
            <a:r>
              <a:rPr sz="1700" dirty="0">
                <a:solidFill>
                  <a:srgbClr val="202020"/>
                </a:solidFill>
                <a:latin typeface="Arial"/>
              </a:rPr>
              <a:t> Base de Datos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Arquitectura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Integración</a:t>
            </a:r>
            <a:r>
              <a:rPr sz="17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Plataformas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Gestión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Proyectos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Informáticos</a:t>
            </a:r>
            <a:endParaRPr sz="170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6276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C4437A"/>
                </a:solidFill>
                <a:latin typeface="Arial"/>
              </a:rPr>
              <a:t>Competencias aplicadas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93392"/>
            <a:ext cx="3657600" cy="423090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Proponer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soluciones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informáticas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según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requerimientos</a:t>
            </a:r>
            <a:r>
              <a:rPr sz="1700" dirty="0">
                <a:solidFill>
                  <a:srgbClr val="202020"/>
                </a:solidFill>
                <a:latin typeface="Arial"/>
              </a:rPr>
              <a:t>.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Construir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modelos</a:t>
            </a:r>
            <a:r>
              <a:rPr sz="17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datos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escalables</a:t>
            </a:r>
            <a:r>
              <a:rPr sz="1700" dirty="0">
                <a:solidFill>
                  <a:srgbClr val="202020"/>
                </a:solidFill>
                <a:latin typeface="Arial"/>
              </a:rPr>
              <a:t>.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Desarrollar</a:t>
            </a:r>
            <a:r>
              <a:rPr sz="1700" dirty="0">
                <a:solidFill>
                  <a:srgbClr val="202020"/>
                </a:solidFill>
                <a:latin typeface="Arial"/>
              </a:rPr>
              <a:t> y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mantener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solución</a:t>
            </a:r>
            <a:r>
              <a:rPr sz="1700" dirty="0">
                <a:solidFill>
                  <a:srgbClr val="202020"/>
                </a:solidFill>
                <a:latin typeface="Arial"/>
              </a:rPr>
              <a:t> de software.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Programar con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tecnologías</a:t>
            </a:r>
            <a:r>
              <a:rPr sz="1700" dirty="0">
                <a:solidFill>
                  <a:srgbClr val="202020"/>
                </a:solidFill>
                <a:latin typeface="Arial"/>
              </a:rPr>
              <a:t> de mercado y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buenas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prácticas</a:t>
            </a:r>
            <a:r>
              <a:rPr sz="1700" dirty="0">
                <a:solidFill>
                  <a:srgbClr val="202020"/>
                </a:solidFill>
                <a:latin typeface="Arial"/>
              </a:rPr>
              <a:t>.</a:t>
            </a:r>
            <a:endParaRPr lang="es-ES"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endParaRPr sz="17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02020"/>
                </a:solidFill>
                <a:latin typeface="Arial"/>
              </a:rPr>
              <a:t>•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Integrar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soluciones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sistémicas</a:t>
            </a:r>
            <a:r>
              <a:rPr sz="1700" dirty="0">
                <a:solidFill>
                  <a:srgbClr val="202020"/>
                </a:solidFill>
                <a:latin typeface="Arial"/>
              </a:rPr>
              <a:t> para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optimizar</a:t>
            </a:r>
            <a:r>
              <a:rPr sz="170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202020"/>
                </a:solidFill>
                <a:latin typeface="Arial"/>
              </a:rPr>
              <a:t>procesos</a:t>
            </a:r>
            <a:r>
              <a:rPr sz="17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760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Factibilidad del proyecto en la asignatura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FB7-18F0-BCA1-889A-E32BD627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B51FF-13C5-DC65-9206-8940276D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000" b="1" dirty="0"/>
              <a:t>Factibilidad del Proyecto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Factibilidad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3657600" cy="141732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rtlCol="0" anchor="ctr"/>
          <a:lstStyle/>
          <a:p>
            <a:pPr algn="ctr">
              <a:spcAft>
                <a:spcPts val="500"/>
              </a:spcAft>
            </a:pPr>
            <a:r>
              <a:rPr sz="1750" b="1">
                <a:solidFill>
                  <a:srgbClr val="C4437A"/>
                </a:solidFill>
                <a:latin typeface="Arial"/>
              </a:rPr>
              <a:t>Tiempo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El trabajo se organiza por etapas durante las 18 semanas del semestre.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691640"/>
            <a:ext cx="3657600" cy="141732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rtlCol="0" anchor="ctr"/>
          <a:lstStyle/>
          <a:p>
            <a:pPr algn="ctr">
              <a:spcAft>
                <a:spcPts val="500"/>
              </a:spcAft>
            </a:pPr>
            <a:r>
              <a:rPr sz="1750" b="1">
                <a:solidFill>
                  <a:srgbClr val="C4437A"/>
                </a:solidFill>
                <a:latin typeface="Arial"/>
              </a:rPr>
              <a:t>Recursos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Computador, internet, herramientas de desarrollo, base de datos y plataformas de prueba.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13415"/>
            <a:ext cx="3657600" cy="141732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rtlCol="0" anchor="ctr"/>
          <a:lstStyle/>
          <a:p>
            <a:pPr algn="ctr">
              <a:spcAft>
                <a:spcPts val="500"/>
              </a:spcAft>
            </a:pPr>
            <a:r>
              <a:rPr sz="1750" b="1" dirty="0" err="1">
                <a:solidFill>
                  <a:srgbClr val="C4437A"/>
                </a:solidFill>
                <a:latin typeface="Arial"/>
              </a:rPr>
              <a:t>Factores</a:t>
            </a:r>
            <a:r>
              <a:rPr sz="1750" b="1" dirty="0">
                <a:solidFill>
                  <a:srgbClr val="C4437A"/>
                </a:solidFill>
                <a:latin typeface="Arial"/>
              </a:rPr>
              <a:t> </a:t>
            </a:r>
            <a:r>
              <a:rPr sz="1750" b="1" dirty="0" err="1">
                <a:solidFill>
                  <a:srgbClr val="C4437A"/>
                </a:solidFill>
                <a:latin typeface="Arial"/>
              </a:rPr>
              <a:t>favorables</a:t>
            </a:r>
            <a:endParaRPr sz="1750" b="1" dirty="0">
              <a:solidFill>
                <a:srgbClr val="C4437A"/>
              </a:solidFill>
              <a:latin typeface="Arial"/>
            </a:endParaRP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Conocimientos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adquiridos</a:t>
            </a:r>
            <a:r>
              <a:rPr sz="1600" dirty="0">
                <a:solidFill>
                  <a:srgbClr val="20202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documentación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técnica</a:t>
            </a:r>
            <a:r>
              <a:rPr sz="1600" dirty="0">
                <a:solidFill>
                  <a:srgbClr val="202020"/>
                </a:solidFill>
                <a:latin typeface="Arial"/>
              </a:rPr>
              <a:t> y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servicios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6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nube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113415"/>
            <a:ext cx="3657600" cy="141732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rtlCol="0" anchor="ctr"/>
          <a:lstStyle/>
          <a:p>
            <a:pPr algn="ctr">
              <a:spcAft>
                <a:spcPts val="500"/>
              </a:spcAft>
            </a:pPr>
            <a:r>
              <a:rPr sz="1750" b="1" dirty="0" err="1">
                <a:solidFill>
                  <a:srgbClr val="C4437A"/>
                </a:solidFill>
                <a:latin typeface="Arial"/>
              </a:rPr>
              <a:t>Riesgos</a:t>
            </a:r>
            <a:r>
              <a:rPr sz="1750" b="1" dirty="0">
                <a:solidFill>
                  <a:srgbClr val="C4437A"/>
                </a:solidFill>
                <a:latin typeface="Arial"/>
              </a:rPr>
              <a:t> y </a:t>
            </a:r>
            <a:r>
              <a:rPr sz="1750" b="1" dirty="0" err="1">
                <a:solidFill>
                  <a:srgbClr val="C4437A"/>
                </a:solidFill>
                <a:latin typeface="Arial"/>
              </a:rPr>
              <a:t>respuesta</a:t>
            </a:r>
            <a:endParaRPr sz="1750" b="1" dirty="0">
              <a:solidFill>
                <a:srgbClr val="C4437A"/>
              </a:solidFill>
              <a:latin typeface="Arial"/>
            </a:endParaRP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Problemas</a:t>
            </a:r>
            <a:r>
              <a:rPr sz="16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integración</a:t>
            </a:r>
            <a:r>
              <a:rPr sz="1600" dirty="0">
                <a:solidFill>
                  <a:srgbClr val="202020"/>
                </a:solidFill>
                <a:latin typeface="Arial"/>
              </a:rPr>
              <a:t> o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tiempo</a:t>
            </a:r>
            <a:r>
              <a:rPr sz="1600" dirty="0">
                <a:solidFill>
                  <a:srgbClr val="202020"/>
                </a:solidFill>
                <a:latin typeface="Arial"/>
              </a:rPr>
              <a:t>: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pruebas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continuas</a:t>
            </a:r>
            <a:r>
              <a:rPr sz="1600" dirty="0">
                <a:solidFill>
                  <a:srgbClr val="20202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priorización</a:t>
            </a:r>
            <a:r>
              <a:rPr sz="1600" dirty="0">
                <a:solidFill>
                  <a:srgbClr val="202020"/>
                </a:solidFill>
                <a:latin typeface="Arial"/>
              </a:rPr>
              <a:t> y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ajustes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etapas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499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7B6B-28F5-B540-BEFD-2002DC1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CE32D-9E2F-1645-1A2B-7626976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000" b="1" dirty="0"/>
              <a:t>Objetivos del Proyecto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Objetivos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27632"/>
            <a:ext cx="75438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C4437A"/>
                </a:solidFill>
                <a:latin typeface="Arial"/>
              </a:rPr>
              <a:t>Objetivo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2138680"/>
            <a:ext cx="7543800" cy="960120"/>
          </a:xfrm>
          <a:prstGeom prst="roundRect">
            <a:avLst/>
          </a:prstGeom>
          <a:solidFill>
            <a:srgbClr val="F2F4F6"/>
          </a:solidFill>
          <a:ln>
            <a:solidFill>
              <a:srgbClr val="D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ctr"/>
          <a:lstStyle/>
          <a:p>
            <a:pPr algn="ctr"/>
            <a:r>
              <a:rPr sz="1680" dirty="0" err="1">
                <a:solidFill>
                  <a:srgbClr val="202020"/>
                </a:solidFill>
                <a:latin typeface="Arial"/>
              </a:rPr>
              <a:t>Desarrollar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plataforma</a:t>
            </a:r>
            <a:r>
              <a:rPr sz="1680" dirty="0">
                <a:solidFill>
                  <a:srgbClr val="202020"/>
                </a:solidFill>
                <a:latin typeface="Arial"/>
              </a:rPr>
              <a:t> digital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llamada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ServiciosYa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conecte</a:t>
            </a:r>
            <a:r>
              <a:rPr sz="1680" dirty="0">
                <a:solidFill>
                  <a:srgbClr val="202020"/>
                </a:solidFill>
                <a:latin typeface="Arial"/>
              </a:rPr>
              <a:t> a personas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requieren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servicios</a:t>
            </a:r>
            <a:r>
              <a:rPr sz="1680" dirty="0">
                <a:solidFill>
                  <a:srgbClr val="202020"/>
                </a:solidFill>
                <a:latin typeface="Arial"/>
              </a:rPr>
              <a:t> con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usuarios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interesados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realizarlos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mediante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publicación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postulación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selección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 y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gestión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servicios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372104"/>
            <a:ext cx="75438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 dirty="0" err="1">
                <a:solidFill>
                  <a:srgbClr val="C4437A"/>
                </a:solidFill>
                <a:latin typeface="Arial"/>
              </a:rPr>
              <a:t>Objetivos</a:t>
            </a:r>
            <a:r>
              <a:rPr sz="1800" b="1" dirty="0">
                <a:solidFill>
                  <a:srgbClr val="C4437A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C4437A"/>
                </a:solidFill>
                <a:latin typeface="Arial"/>
              </a:rPr>
              <a:t>específicos</a:t>
            </a:r>
            <a:endParaRPr sz="1800" b="1" dirty="0">
              <a:solidFill>
                <a:srgbClr val="C4437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110228"/>
            <a:ext cx="7452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680" dirty="0">
                <a:solidFill>
                  <a:srgbClr val="202020"/>
                </a:solidFill>
                <a:latin typeface="Arial"/>
              </a:rPr>
              <a:t>•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Diseñar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la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arquitectura</a:t>
            </a:r>
            <a:r>
              <a:rPr sz="1680" dirty="0">
                <a:solidFill>
                  <a:srgbClr val="202020"/>
                </a:solidFill>
                <a:latin typeface="Arial"/>
              </a:rPr>
              <a:t> y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estructura</a:t>
            </a:r>
            <a:r>
              <a:rPr sz="1680" dirty="0">
                <a:solidFill>
                  <a:srgbClr val="202020"/>
                </a:solidFill>
                <a:latin typeface="Arial"/>
              </a:rPr>
              <a:t> general de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ServiciosYa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680" dirty="0">
                <a:solidFill>
                  <a:srgbClr val="202020"/>
                </a:solidFill>
                <a:latin typeface="Arial"/>
              </a:rPr>
              <a:t>•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Implementar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registro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inicio</a:t>
            </a:r>
            <a:r>
              <a:rPr sz="168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sesión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 y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gestión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 de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perfiles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680" dirty="0">
                <a:solidFill>
                  <a:srgbClr val="202020"/>
                </a:solidFill>
                <a:latin typeface="Arial"/>
              </a:rPr>
              <a:t>•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Desarrollar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publicación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búsqueda</a:t>
            </a:r>
            <a:r>
              <a:rPr sz="1680" dirty="0">
                <a:solidFill>
                  <a:srgbClr val="202020"/>
                </a:solidFill>
                <a:latin typeface="Arial"/>
              </a:rPr>
              <a:t> y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postulación</a:t>
            </a:r>
            <a:r>
              <a:rPr sz="1680" dirty="0">
                <a:solidFill>
                  <a:srgbClr val="202020"/>
                </a:solidFill>
                <a:latin typeface="Arial"/>
              </a:rPr>
              <a:t> a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servicios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680" dirty="0">
                <a:solidFill>
                  <a:srgbClr val="202020"/>
                </a:solidFill>
                <a:latin typeface="Arial"/>
              </a:rPr>
              <a:t>•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Implementar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seguimiento</a:t>
            </a:r>
            <a:r>
              <a:rPr sz="1680" dirty="0">
                <a:solidFill>
                  <a:srgbClr val="202020"/>
                </a:solidFill>
                <a:latin typeface="Arial"/>
              </a:rPr>
              <a:t>,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calificaciones</a:t>
            </a:r>
            <a:r>
              <a:rPr sz="1680" dirty="0">
                <a:solidFill>
                  <a:srgbClr val="202020"/>
                </a:solidFill>
                <a:latin typeface="Arial"/>
              </a:rPr>
              <a:t> y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comentarios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680" dirty="0">
                <a:solidFill>
                  <a:srgbClr val="202020"/>
                </a:solidFill>
                <a:latin typeface="Arial"/>
              </a:rPr>
              <a:t>•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Realizar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pruebas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funcionales</a:t>
            </a:r>
            <a:r>
              <a:rPr sz="1680" dirty="0">
                <a:solidFill>
                  <a:srgbClr val="202020"/>
                </a:solidFill>
                <a:latin typeface="Arial"/>
              </a:rPr>
              <a:t> de las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principales</a:t>
            </a:r>
            <a:r>
              <a:rPr sz="1680" dirty="0">
                <a:solidFill>
                  <a:srgbClr val="202020"/>
                </a:solidFill>
                <a:latin typeface="Arial"/>
              </a:rPr>
              <a:t> </a:t>
            </a:r>
            <a:r>
              <a:rPr sz="1680" dirty="0" err="1">
                <a:solidFill>
                  <a:srgbClr val="202020"/>
                </a:solidFill>
                <a:latin typeface="Arial"/>
              </a:rPr>
              <a:t>características</a:t>
            </a:r>
            <a:r>
              <a:rPr sz="168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95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F384-E74D-7BCF-FC67-9629BFB0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4457-E22B-0DF2-2122-D86C317C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Metodologías del Proyecto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Metodología incremental e iterativa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541" y="1965960"/>
            <a:ext cx="1656158" cy="205740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C4437A"/>
                </a:solidFill>
                <a:latin typeface="Arial"/>
              </a:rPr>
              <a:t>1</a:t>
            </a:r>
          </a:p>
          <a:p>
            <a:pPr algn="ctr">
              <a:spcBef>
                <a:spcPts val="400"/>
              </a:spcBef>
              <a:spcAft>
                <a:spcPts val="700"/>
              </a:spcAft>
            </a:pPr>
            <a:r>
              <a:rPr sz="1650" b="1" dirty="0" err="1">
                <a:solidFill>
                  <a:srgbClr val="373F46"/>
                </a:solidFill>
                <a:latin typeface="Arial"/>
              </a:rPr>
              <a:t>Análisis</a:t>
            </a:r>
            <a:endParaRPr sz="1650" b="1" dirty="0">
              <a:solidFill>
                <a:srgbClr val="373F46"/>
              </a:solidFill>
              <a:latin typeface="Arial"/>
            </a:endParaRPr>
          </a:p>
          <a:p>
            <a:pPr algn="ctr"/>
            <a:r>
              <a:rPr sz="1450" dirty="0" err="1">
                <a:solidFill>
                  <a:srgbClr val="202020"/>
                </a:solidFill>
                <a:latin typeface="Arial"/>
              </a:rPr>
              <a:t>Requerimientos</a:t>
            </a:r>
            <a:r>
              <a:rPr sz="1450" dirty="0">
                <a:solidFill>
                  <a:srgbClr val="202020"/>
                </a:solidFill>
                <a:latin typeface="Arial"/>
              </a:rPr>
              <a:t> y </a:t>
            </a:r>
            <a:r>
              <a:rPr sz="1450" dirty="0" err="1">
                <a:solidFill>
                  <a:srgbClr val="202020"/>
                </a:solidFill>
                <a:latin typeface="Arial"/>
              </a:rPr>
              <a:t>alcance</a:t>
            </a:r>
            <a:endParaRPr sz="145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1879090" y="2788920"/>
            <a:ext cx="192024" cy="411480"/>
          </a:xfrm>
          <a:prstGeom prst="chevron">
            <a:avLst/>
          </a:prstGeom>
          <a:solidFill>
            <a:srgbClr val="C4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47013" y="1965960"/>
            <a:ext cx="1508760" cy="205740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C4437A"/>
                </a:solidFill>
                <a:latin typeface="Arial"/>
              </a:rPr>
              <a:t>2</a:t>
            </a:r>
          </a:p>
          <a:p>
            <a:pPr algn="ctr">
              <a:spcBef>
                <a:spcPts val="400"/>
              </a:spcBef>
              <a:spcAft>
                <a:spcPts val="700"/>
              </a:spcAft>
            </a:pPr>
            <a:r>
              <a:rPr sz="1650" b="1" dirty="0" err="1">
                <a:solidFill>
                  <a:srgbClr val="373F46"/>
                </a:solidFill>
                <a:latin typeface="Arial"/>
              </a:rPr>
              <a:t>Diseño</a:t>
            </a:r>
            <a:endParaRPr sz="1650" b="1" dirty="0">
              <a:solidFill>
                <a:srgbClr val="373F46"/>
              </a:solidFill>
              <a:latin typeface="Arial"/>
            </a:endParaRPr>
          </a:p>
          <a:p>
            <a:pPr algn="ctr"/>
            <a:r>
              <a:rPr sz="1450" dirty="0" err="1">
                <a:solidFill>
                  <a:srgbClr val="202020"/>
                </a:solidFill>
                <a:latin typeface="Arial"/>
              </a:rPr>
              <a:t>Arquitectura</a:t>
            </a:r>
            <a:r>
              <a:rPr sz="1450" dirty="0">
                <a:solidFill>
                  <a:srgbClr val="202020"/>
                </a:solidFill>
                <a:latin typeface="Arial"/>
              </a:rPr>
              <a:t>, </a:t>
            </a:r>
            <a:r>
              <a:rPr sz="1450" dirty="0" err="1">
                <a:solidFill>
                  <a:srgbClr val="202020"/>
                </a:solidFill>
                <a:latin typeface="Arial"/>
              </a:rPr>
              <a:t>datos</a:t>
            </a:r>
            <a:r>
              <a:rPr sz="1450" dirty="0">
                <a:solidFill>
                  <a:srgbClr val="202020"/>
                </a:solidFill>
                <a:latin typeface="Arial"/>
              </a:rPr>
              <a:t> e interfaces</a:t>
            </a:r>
          </a:p>
        </p:txBody>
      </p:sp>
      <p:sp>
        <p:nvSpPr>
          <p:cNvPr id="7" name="Chevron 6"/>
          <p:cNvSpPr/>
          <p:nvPr/>
        </p:nvSpPr>
        <p:spPr>
          <a:xfrm>
            <a:off x="3674223" y="2779776"/>
            <a:ext cx="192024" cy="411480"/>
          </a:xfrm>
          <a:prstGeom prst="chevron">
            <a:avLst/>
          </a:prstGeom>
          <a:solidFill>
            <a:srgbClr val="C4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75230" y="1965960"/>
            <a:ext cx="1789478" cy="205740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C4437A"/>
                </a:solidFill>
                <a:latin typeface="Arial"/>
              </a:rPr>
              <a:t>3</a:t>
            </a:r>
          </a:p>
          <a:p>
            <a:pPr algn="ctr">
              <a:spcBef>
                <a:spcPts val="400"/>
              </a:spcBef>
              <a:spcAft>
                <a:spcPts val="700"/>
              </a:spcAft>
            </a:pPr>
            <a:r>
              <a:rPr sz="1650" b="1" dirty="0">
                <a:solidFill>
                  <a:srgbClr val="373F46"/>
                </a:solidFill>
                <a:latin typeface="Arial"/>
              </a:rPr>
              <a:t>Desarrollo</a:t>
            </a:r>
          </a:p>
          <a:p>
            <a:pPr algn="ctr"/>
            <a:r>
              <a:rPr sz="1450" dirty="0" err="1">
                <a:solidFill>
                  <a:srgbClr val="202020"/>
                </a:solidFill>
                <a:latin typeface="Arial"/>
              </a:rPr>
              <a:t>Módulos</a:t>
            </a:r>
            <a:r>
              <a:rPr sz="1450" dirty="0">
                <a:solidFill>
                  <a:srgbClr val="202020"/>
                </a:solidFill>
                <a:latin typeface="Arial"/>
              </a:rPr>
              <a:t> y </a:t>
            </a:r>
            <a:r>
              <a:rPr sz="1450" dirty="0" err="1">
                <a:solidFill>
                  <a:srgbClr val="202020"/>
                </a:solidFill>
                <a:latin typeface="Arial"/>
              </a:rPr>
              <a:t>funcionalidades</a:t>
            </a:r>
            <a:endParaRPr sz="145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5641827" y="2766060"/>
            <a:ext cx="192024" cy="411480"/>
          </a:xfrm>
          <a:prstGeom prst="chevron">
            <a:avLst/>
          </a:prstGeom>
          <a:solidFill>
            <a:srgbClr val="C4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40270" y="1965960"/>
            <a:ext cx="1508760" cy="205740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C4437A"/>
                </a:solidFill>
                <a:latin typeface="Arial"/>
              </a:rPr>
              <a:t>4</a:t>
            </a:r>
          </a:p>
          <a:p>
            <a:pPr algn="ctr">
              <a:spcBef>
                <a:spcPts val="400"/>
              </a:spcBef>
              <a:spcAft>
                <a:spcPts val="700"/>
              </a:spcAft>
            </a:pPr>
            <a:r>
              <a:rPr sz="1650" b="1" dirty="0" err="1">
                <a:solidFill>
                  <a:srgbClr val="373F46"/>
                </a:solidFill>
                <a:latin typeface="Arial"/>
              </a:rPr>
              <a:t>Pruebas</a:t>
            </a:r>
            <a:endParaRPr sz="1650" b="1" dirty="0">
              <a:solidFill>
                <a:srgbClr val="373F46"/>
              </a:solidFill>
              <a:latin typeface="Arial"/>
            </a:endParaRPr>
          </a:p>
          <a:p>
            <a:pPr algn="ctr"/>
            <a:r>
              <a:rPr sz="1450" dirty="0" err="1">
                <a:solidFill>
                  <a:srgbClr val="202020"/>
                </a:solidFill>
                <a:latin typeface="Arial"/>
              </a:rPr>
              <a:t>Validación</a:t>
            </a:r>
            <a:r>
              <a:rPr sz="1450" dirty="0">
                <a:solidFill>
                  <a:srgbClr val="202020"/>
                </a:solidFill>
                <a:latin typeface="Arial"/>
              </a:rPr>
              <a:t> e </a:t>
            </a:r>
            <a:r>
              <a:rPr sz="1450" dirty="0" err="1">
                <a:solidFill>
                  <a:srgbClr val="202020"/>
                </a:solidFill>
                <a:latin typeface="Arial"/>
              </a:rPr>
              <a:t>integración</a:t>
            </a:r>
            <a:endParaRPr sz="145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7278623" y="2779776"/>
            <a:ext cx="192024" cy="411480"/>
          </a:xfrm>
          <a:prstGeom prst="chevron">
            <a:avLst/>
          </a:prstGeom>
          <a:solidFill>
            <a:srgbClr val="C4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70647" y="1965960"/>
            <a:ext cx="1673353" cy="205740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C4437A"/>
                </a:solidFill>
                <a:latin typeface="Arial"/>
              </a:rPr>
              <a:t>5</a:t>
            </a:r>
          </a:p>
          <a:p>
            <a:pPr algn="ctr">
              <a:spcBef>
                <a:spcPts val="400"/>
              </a:spcBef>
              <a:spcAft>
                <a:spcPts val="700"/>
              </a:spcAft>
            </a:pPr>
            <a:r>
              <a:rPr sz="1650" b="1" dirty="0" err="1">
                <a:solidFill>
                  <a:srgbClr val="373F46"/>
                </a:solidFill>
                <a:latin typeface="Arial"/>
              </a:rPr>
              <a:t>Ajustes</a:t>
            </a:r>
            <a:r>
              <a:rPr lang="es-ES" sz="1650" b="1" dirty="0">
                <a:solidFill>
                  <a:srgbClr val="373F46"/>
                </a:solidFill>
                <a:latin typeface="Arial"/>
              </a:rPr>
              <a:t> y cierre</a:t>
            </a:r>
            <a:endParaRPr sz="1650" b="1" dirty="0">
              <a:solidFill>
                <a:srgbClr val="373F46"/>
              </a:solidFill>
              <a:latin typeface="Arial"/>
            </a:endParaRPr>
          </a:p>
          <a:p>
            <a:pPr algn="ctr"/>
            <a:r>
              <a:rPr sz="1450" dirty="0" err="1">
                <a:solidFill>
                  <a:srgbClr val="202020"/>
                </a:solidFill>
                <a:latin typeface="Arial"/>
              </a:rPr>
              <a:t>Correcciones</a:t>
            </a:r>
            <a:r>
              <a:rPr sz="145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S" sz="1450" dirty="0">
                <a:solidFill>
                  <a:srgbClr val="202020"/>
                </a:solidFill>
                <a:latin typeface="Arial"/>
              </a:rPr>
              <a:t>,</a:t>
            </a:r>
            <a:r>
              <a:rPr sz="1450" dirty="0">
                <a:solidFill>
                  <a:srgbClr val="202020"/>
                </a:solidFill>
                <a:latin typeface="Arial"/>
              </a:rPr>
              <a:t> </a:t>
            </a:r>
            <a:r>
              <a:rPr sz="1450" dirty="0" err="1">
                <a:solidFill>
                  <a:srgbClr val="202020"/>
                </a:solidFill>
                <a:latin typeface="Arial"/>
              </a:rPr>
              <a:t>documentación</a:t>
            </a:r>
            <a:r>
              <a:rPr lang="es-ES" sz="1450" dirty="0">
                <a:solidFill>
                  <a:srgbClr val="202020"/>
                </a:solidFill>
                <a:latin typeface="Arial"/>
              </a:rPr>
              <a:t> y presentación del producto</a:t>
            </a:r>
            <a:endParaRPr sz="145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7223760" cy="886397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lang="es-CL" sz="1600" dirty="0"/>
              <a:t>Cada funcionalidad se construye, se prueba y se ajusta progresivamente, permitiendo volver a etapas anteriores cuando sea necesario antes de continuar con el desarrollo.</a:t>
            </a:r>
            <a:endParaRPr sz="1600" b="0" dirty="0">
              <a:solidFill>
                <a:srgbClr val="20202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947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trabajo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63A-9130-DA47-993C-2C2F8DD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2292" y="330610"/>
            <a:ext cx="2338782" cy="4616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dirty="0">
                <a:solidFill>
                  <a:srgbClr val="FFFFFF"/>
                </a:solidFill>
                <a:latin typeface="Calibri" panose="020F0502020204030204" pitchFamily="34" charset="0"/>
                <a:ea typeface="Roboto Condensed"/>
                <a:cs typeface="Calibri" panose="020F0502020204030204" pitchFamily="34" charset="0"/>
                <a:sym typeface="Roboto Condensed"/>
              </a:rPr>
              <a:t>Plan</a:t>
            </a:r>
            <a:r>
              <a:rPr sz="2200" b="1" dirty="0">
                <a:solidFill>
                  <a:srgbClr val="1C436E"/>
                </a:solidFill>
                <a:latin typeface="Aptos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 panose="020F0502020204030204" pitchFamily="34" charset="0"/>
                <a:ea typeface="Roboto Condensed"/>
                <a:cs typeface="Calibri" panose="020F0502020204030204" pitchFamily="34" charset="0"/>
              </a:rPr>
              <a:t>de </a:t>
            </a:r>
            <a:r>
              <a:rPr sz="3000" dirty="0" err="1">
                <a:solidFill>
                  <a:srgbClr val="FFFFFF"/>
                </a:solidFill>
                <a:latin typeface="Calibri" panose="020F0502020204030204" pitchFamily="34" charset="0"/>
                <a:ea typeface="Roboto Condensed"/>
                <a:cs typeface="Calibri" panose="020F0502020204030204" pitchFamily="34" charset="0"/>
              </a:rPr>
              <a:t>trabajo</a:t>
            </a:r>
            <a:endParaRPr sz="3000" dirty="0">
              <a:solidFill>
                <a:srgbClr val="FFFFFF"/>
              </a:solidFill>
              <a:latin typeface="Calibri" panose="020F0502020204030204" pitchFamily="34" charset="0"/>
              <a:ea typeface="Roboto Condensed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990506"/>
            <a:ext cx="3206006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1C436E"/>
                </a:solidFill>
                <a:latin typeface="Aptos"/>
              </a:rPr>
              <a:t>Distribución</a:t>
            </a:r>
            <a:r>
              <a:rPr sz="1150" b="1" dirty="0">
                <a:solidFill>
                  <a:srgbClr val="1C436E"/>
                </a:solidFill>
                <a:latin typeface="Aptos"/>
              </a:rPr>
              <a:t> de las 7 </a:t>
            </a:r>
            <a:r>
              <a:rPr sz="1150" b="1" dirty="0" err="1">
                <a:solidFill>
                  <a:srgbClr val="1C436E"/>
                </a:solidFill>
                <a:latin typeface="Aptos"/>
              </a:rPr>
              <a:t>actividades</a:t>
            </a:r>
            <a:r>
              <a:rPr sz="1150" b="1" dirty="0">
                <a:solidFill>
                  <a:srgbClr val="1C436E"/>
                </a:solidFill>
                <a:latin typeface="Aptos"/>
              </a:rPr>
              <a:t> </a:t>
            </a:r>
            <a:r>
              <a:rPr sz="1150" b="1" dirty="0" err="1">
                <a:solidFill>
                  <a:srgbClr val="1C436E"/>
                </a:solidFill>
                <a:latin typeface="Aptos"/>
              </a:rPr>
              <a:t>en</a:t>
            </a:r>
            <a:r>
              <a:rPr sz="1150" b="1" dirty="0">
                <a:solidFill>
                  <a:srgbClr val="1C436E"/>
                </a:solidFill>
                <a:latin typeface="Aptos"/>
              </a:rPr>
              <a:t> 18 </a:t>
            </a:r>
            <a:r>
              <a:rPr sz="1150" b="1" dirty="0" err="1">
                <a:solidFill>
                  <a:srgbClr val="1C436E"/>
                </a:solidFill>
                <a:latin typeface="Aptos"/>
              </a:rPr>
              <a:t>semanas</a:t>
            </a:r>
            <a:endParaRPr sz="1150" b="1" dirty="0">
              <a:solidFill>
                <a:srgbClr val="1C436E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192" y="1161288"/>
            <a:ext cx="8513064" cy="32004"/>
          </a:xfrm>
          <a:prstGeom prst="rect">
            <a:avLst/>
          </a:prstGeom>
          <a:solidFill>
            <a:srgbClr val="F79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444752"/>
            <a:ext cx="318211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1C436E"/>
                </a:solidFill>
                <a:latin typeface="Aptos"/>
              </a:rPr>
              <a:t>Actividad</a:t>
            </a:r>
            <a:endParaRPr sz="1150" b="1" dirty="0">
              <a:solidFill>
                <a:srgbClr val="1C436E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85615" y="1316736"/>
            <a:ext cx="1093216" cy="50292"/>
          </a:xfrm>
          <a:prstGeom prst="rect">
            <a:avLst/>
          </a:prstGeom>
          <a:solidFill>
            <a:srgbClr val="408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8831" y="1316736"/>
            <a:ext cx="3006343" cy="50292"/>
          </a:xfrm>
          <a:prstGeom prst="rect">
            <a:avLst/>
          </a:prstGeom>
          <a:solidFill>
            <a:srgbClr val="1C4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85176" y="1316736"/>
            <a:ext cx="819912" cy="50292"/>
          </a:xfrm>
          <a:prstGeom prst="rect">
            <a:avLst/>
          </a:prstGeom>
          <a:solidFill>
            <a:srgbClr val="F7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5615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408669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8919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40866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2224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408669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5528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408669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8831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2136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5439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8743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2048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8656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959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5264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8568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871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1C4F7D"/>
                </a:solidFill>
                <a:latin typeface="Aptos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5176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F7A623"/>
                </a:solidFill>
                <a:latin typeface="Aptos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8479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F7A623"/>
                </a:solidFill>
                <a:latin typeface="Aptos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1784" y="1463040"/>
            <a:ext cx="273304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>
                <a:solidFill>
                  <a:srgbClr val="F7A623"/>
                </a:solidFill>
                <a:latin typeface="Aptos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1860804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Análisis y definición de requerimientos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6588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785615" y="1865376"/>
            <a:ext cx="256844" cy="356616"/>
          </a:xfrm>
          <a:prstGeom prst="rect">
            <a:avLst/>
          </a:prstGeom>
          <a:solidFill>
            <a:srgbClr val="40866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69892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58919" y="1865376"/>
            <a:ext cx="256844" cy="356616"/>
          </a:xfrm>
          <a:prstGeom prst="rect">
            <a:avLst/>
          </a:prstGeom>
          <a:solidFill>
            <a:srgbClr val="40866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43196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32224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16500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05528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89804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78831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63108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52136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36412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25439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9716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98743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83020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72048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56324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45352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29628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18656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02932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791959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076236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065264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49540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38568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622844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611871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96148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85176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69452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58479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442756" y="188183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431784" y="186537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5488" y="2446020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Diseño del modelo de datos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96588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785615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069892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058919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43196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332224" y="2450592"/>
            <a:ext cx="256844" cy="356616"/>
          </a:xfrm>
          <a:prstGeom prst="rect">
            <a:avLst/>
          </a:prstGeom>
          <a:solidFill>
            <a:srgbClr val="40866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616500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605528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889804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878831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163108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152136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436412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425439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709716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698743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983020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972048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256324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245352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29628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518656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802932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791959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076236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65264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349540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338568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622844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611871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896148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85176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169452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158479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8442756" y="246705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431784" y="245059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488" y="3031236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Diseño de arquitectura e interfaces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96588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785615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069892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058919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4343196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332224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616500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605528" y="3035808"/>
            <a:ext cx="256844" cy="356616"/>
          </a:xfrm>
          <a:prstGeom prst="rect">
            <a:avLst/>
          </a:prstGeom>
          <a:solidFill>
            <a:srgbClr val="40866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4889804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878831" y="3035808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163108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152136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436412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425439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5709716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698743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983020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972048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256324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245352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529628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518656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802932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6791959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076236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065264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349540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338568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622844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611871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896148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885176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8169452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8158479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442756" y="3052267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431784" y="3035808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75488" y="3616452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Desarrollo de autenticación y perfiles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96588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785615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069892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4058919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343196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332224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616500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605528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4889804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4878831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163108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152136" y="3621024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5436412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5425439" y="3621024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5709716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5698743" y="3621024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5983020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5972048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256324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6245352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529628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6518656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6802932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6791959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7076236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7065264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7349540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338568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7622844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7611871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7896148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7885176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8169452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158479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8442756" y="3637483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8431784" y="3621024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75488" y="4201668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Publicación y postulación de servicios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796588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785615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4069892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4058919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4343196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4332224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4616500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4605528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4889804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4878831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5163108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5152136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5436412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425439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5709716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5698743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983020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5972048" y="4206240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6256324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6245352" y="4206240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6529628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6518656" y="4206240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6802932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6791959" y="4206240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076236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7065264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7349540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7338568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7622844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611871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896148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885176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169452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8158479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442756" y="4222699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431784" y="4206240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475488" y="4786884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Gestión y calificaciones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796588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3785615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4069892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4058919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4343196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4332224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4616500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4605528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4889804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4878831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5163108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5152136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5436412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5425439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709716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5698743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5983020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5972048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256324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245352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6529628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6518656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6802932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6791959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7076236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7065264" y="4791456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7349540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7338568" y="4791456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7622844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7611871" y="4791456"/>
            <a:ext cx="256844" cy="356616"/>
          </a:xfrm>
          <a:prstGeom prst="rect">
            <a:avLst/>
          </a:prstGeom>
          <a:solidFill>
            <a:srgbClr val="1C4F7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7896148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7885176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8169452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8158479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8442756" y="4807915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8431784" y="4791456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75488" y="5372100"/>
            <a:ext cx="3182112" cy="3566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1F2937"/>
                </a:solidFill>
                <a:latin typeface="Aptos"/>
              </a:rPr>
              <a:t>Pruebas, correcciones y documentación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796588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3785615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4069892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058919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4343196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4332224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4616500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4605528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4889804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4878831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5163108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5152136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5436412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5425439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5709716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5698743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5983020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5972048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6256324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6245352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6529628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6518656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6802932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6791959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7076236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7065264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7349540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7338568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7622844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7611871" y="5376672"/>
            <a:ext cx="256844" cy="356616"/>
          </a:xfrm>
          <a:prstGeom prst="rect">
            <a:avLst/>
          </a:prstGeom>
          <a:solidFill>
            <a:srgbClr val="FFFFFF"/>
          </a:solidFill>
          <a:ln w="8255">
            <a:solidFill>
              <a:srgbClr val="CC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7896148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7885176" y="5376672"/>
            <a:ext cx="256844" cy="356616"/>
          </a:xfrm>
          <a:prstGeom prst="rect">
            <a:avLst/>
          </a:prstGeom>
          <a:solidFill>
            <a:srgbClr val="F7A62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8169452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8158479" y="5376672"/>
            <a:ext cx="256844" cy="356616"/>
          </a:xfrm>
          <a:prstGeom prst="rect">
            <a:avLst/>
          </a:prstGeom>
          <a:solidFill>
            <a:srgbClr val="F7A62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8442756" y="5393131"/>
            <a:ext cx="255015" cy="356616"/>
          </a:xfrm>
          <a:prstGeom prst="rect">
            <a:avLst/>
          </a:prstGeom>
          <a:solidFill>
            <a:srgbClr val="E1E5EA"/>
          </a:solidFill>
          <a:ln w="254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8431784" y="5376672"/>
            <a:ext cx="256844" cy="356616"/>
          </a:xfrm>
          <a:prstGeom prst="rect">
            <a:avLst/>
          </a:prstGeom>
          <a:solidFill>
            <a:srgbClr val="F7A62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3785615" y="6089904"/>
            <a:ext cx="1093216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408669"/>
                </a:solidFill>
                <a:latin typeface="Aptos"/>
              </a:rPr>
              <a:t>Fase 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3858768" y="6345936"/>
            <a:ext cx="946912" cy="22860"/>
          </a:xfrm>
          <a:prstGeom prst="rect">
            <a:avLst/>
          </a:prstGeom>
          <a:solidFill>
            <a:srgbClr val="408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4878831" y="6089904"/>
            <a:ext cx="3006343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1C4F7D"/>
                </a:solidFill>
                <a:latin typeface="Aptos"/>
              </a:rPr>
              <a:t>Fase 2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951983" y="6345936"/>
            <a:ext cx="2860039" cy="22860"/>
          </a:xfrm>
          <a:prstGeom prst="rect">
            <a:avLst/>
          </a:prstGeom>
          <a:solidFill>
            <a:srgbClr val="1C4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7885176" y="6089904"/>
            <a:ext cx="819912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F7A623"/>
                </a:solidFill>
                <a:latin typeface="Aptos"/>
              </a:rPr>
              <a:t>Fase 3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7958328" y="6345936"/>
            <a:ext cx="673607" cy="22860"/>
          </a:xfrm>
          <a:prstGeom prst="rect">
            <a:avLst/>
          </a:prstGeom>
          <a:solidFill>
            <a:srgbClr val="F7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429768" y="6062472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0" b="0">
                <a:solidFill>
                  <a:srgbClr val="526073"/>
                </a:solidFill>
                <a:latin typeface="Aptos"/>
              </a:rPr>
              <a:t>ServiciosYa | Proyecto APT – Fase 1</a:t>
            </a:r>
          </a:p>
        </p:txBody>
      </p:sp>
    </p:spTree>
    <p:extLst>
      <p:ext uri="{BB962C8B-B14F-4D97-AF65-F5344CB8AC3E}">
        <p14:creationId xmlns:p14="http://schemas.microsoft.com/office/powerpoint/2010/main" val="507415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esperadas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51AD-221F-68E5-91D7-21E995D3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Evidencias Esperadas del Proyecto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Evidencias esperadas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3657600" cy="361188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1100"/>
              </a:spcAft>
            </a:pPr>
            <a:r>
              <a:rPr sz="1800" b="1">
                <a:solidFill>
                  <a:srgbClr val="C4437A"/>
                </a:solidFill>
                <a:latin typeface="Arial"/>
              </a:rPr>
              <a:t>Evidencias de avance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Arial"/>
              </a:rPr>
              <a:t>• Definición y planificación del proyecto.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Arial"/>
              </a:rPr>
              <a:t>• Modelo de datos y arquitectura del sistema.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Arial"/>
              </a:rPr>
              <a:t>• Prototipo funcional parcial de ServiciosYa.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737360"/>
            <a:ext cx="3657600" cy="3611880"/>
          </a:xfrm>
          <a:prstGeom prst="roundRect">
            <a:avLst/>
          </a:prstGeom>
          <a:solidFill>
            <a:srgbClr val="F2F4F6"/>
          </a:solidFill>
          <a:ln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1100"/>
              </a:spcAft>
            </a:pPr>
            <a:r>
              <a:rPr sz="1800" b="1">
                <a:solidFill>
                  <a:srgbClr val="C4437A"/>
                </a:solidFill>
                <a:latin typeface="Arial"/>
              </a:rPr>
              <a:t>Evidencias finales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Arial"/>
              </a:rPr>
              <a:t>• Demostración funcional de ServiciosYa.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  <a:latin typeface="Arial"/>
              </a:rPr>
              <a:t>• Resultados de pruebas del sistema.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1AAFF-2FAC-48ED-5D95-7E04B1AC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375F"/>
                </a:solidFill>
              </a:defRPr>
            </a:pPr>
            <a:r>
              <a:t>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7635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E5B6B"/>
                </a:solidFill>
                <a:latin typeface="Arial"/>
              </a:rPr>
              <a:t>Stack tecnológico para aplicación móvil, plataforma web, backend y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8092440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700784"/>
            <a:ext cx="182880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6656" y="181051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92224"/>
            <a:ext cx="12070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Frontend móvil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221992"/>
            <a:ext cx="1554480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14016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2409444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React Native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635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144" y="2811780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Expo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2144" y="3214116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3472" y="1700784"/>
            <a:ext cx="182880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181051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181051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1792224"/>
            <a:ext cx="12070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Frontend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0632" y="2221992"/>
            <a:ext cx="1554480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14016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18688" y="2409444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React</a:t>
            </a:r>
          </a:p>
        </p:txBody>
      </p:sp>
      <p:sp>
        <p:nvSpPr>
          <p:cNvPr id="23" name="Oval 22"/>
          <p:cNvSpPr/>
          <p:nvPr/>
        </p:nvSpPr>
        <p:spPr>
          <a:xfrm>
            <a:off x="2798064" y="2816352"/>
            <a:ext cx="310896" cy="310896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98064" y="281635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2811780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Next.js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3218688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18688" y="3214116"/>
            <a:ext cx="1078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TypeScript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0016" y="1700784"/>
            <a:ext cx="182880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09744" y="181051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9744" y="181051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1792224"/>
            <a:ext cx="12070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37176" y="2221992"/>
            <a:ext cx="1554480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578608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03520" y="2574036"/>
            <a:ext cx="10424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NestJS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090672"/>
            <a:ext cx="310896" cy="3108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03520" y="3086100"/>
            <a:ext cx="10424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Node.js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1700784"/>
            <a:ext cx="182880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76288" y="181051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76288" y="181051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8624" y="1792224"/>
            <a:ext cx="12070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Base de datos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2221992"/>
            <a:ext cx="1554480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578608"/>
            <a:ext cx="310896" cy="3108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70064" y="2574036"/>
            <a:ext cx="10424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PostgreSQL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090672"/>
            <a:ext cx="310896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70064" y="3086100"/>
            <a:ext cx="10424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Neon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895344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76656" y="400507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" y="4005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3986783"/>
            <a:ext cx="18653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ORM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" y="4416552"/>
            <a:ext cx="2212848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9616" y="4654296"/>
            <a:ext cx="621792" cy="6217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24128" y="5358383"/>
            <a:ext cx="15727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91919"/>
                </a:solidFill>
                <a:latin typeface="Arial"/>
              </a:rPr>
              <a:t>Prisma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28416" y="3895344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438144" y="400507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38144" y="4005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3986783"/>
            <a:ext cx="18653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Herramientas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65576" y="4416552"/>
            <a:ext cx="2212848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4663440"/>
            <a:ext cx="310896" cy="31089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986784" y="4658868"/>
            <a:ext cx="1591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VS Code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6160" y="5065776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986784" y="5061204"/>
            <a:ext cx="1591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Git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6160" y="5468112"/>
            <a:ext cx="310896" cy="31089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986784" y="5463540"/>
            <a:ext cx="159105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rial"/>
              </a:rPr>
              <a:t>GitHub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89904" y="3895344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199632" y="4005072"/>
            <a:ext cx="329184" cy="329184"/>
          </a:xfrm>
          <a:prstGeom prst="ellipse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199632" y="4005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3986783"/>
            <a:ext cx="18653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174069"/>
                </a:solidFill>
                <a:latin typeface="Arial"/>
              </a:rPr>
              <a:t>Arquitectura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27064" y="4416552"/>
            <a:ext cx="2212848" cy="32004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54496" y="4681728"/>
            <a:ext cx="2157984" cy="256032"/>
          </a:xfrm>
          <a:prstGeom prst="roundRect">
            <a:avLst/>
          </a:prstGeom>
          <a:solidFill>
            <a:srgbClr val="F1F7FC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54496" y="4681728"/>
            <a:ext cx="21579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174069"/>
                </a:solidFill>
                <a:latin typeface="Arial"/>
              </a:rPr>
              <a:t>App móvil + Página web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7260336" y="4956048"/>
            <a:ext cx="146304" cy="100584"/>
          </a:xfrm>
          <a:prstGeom prst="downArrow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254496" y="5065776"/>
            <a:ext cx="2157984" cy="256032"/>
          </a:xfrm>
          <a:prstGeom prst="roundRect">
            <a:avLst/>
          </a:prstGeom>
          <a:solidFill>
            <a:srgbClr val="F1F7FC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54496" y="5065776"/>
            <a:ext cx="21579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174069"/>
                </a:solidFill>
                <a:latin typeface="Arial"/>
              </a:rPr>
              <a:t>API REST (NestJS)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7260336" y="5340096"/>
            <a:ext cx="146304" cy="100584"/>
          </a:xfrm>
          <a:prstGeom prst="downArrow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254496" y="5449824"/>
            <a:ext cx="2157984" cy="256032"/>
          </a:xfrm>
          <a:prstGeom prst="roundRect">
            <a:avLst/>
          </a:prstGeom>
          <a:solidFill>
            <a:srgbClr val="F1F7FC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54496" y="5449824"/>
            <a:ext cx="21579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174069"/>
                </a:solidFill>
                <a:latin typeface="Arial"/>
              </a:rPr>
              <a:t>Prisma ORM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7260336" y="5724144"/>
            <a:ext cx="146304" cy="100584"/>
          </a:xfrm>
          <a:prstGeom prst="downArrow">
            <a:avLst/>
          </a:prstGeom>
          <a:solidFill>
            <a:srgbClr val="17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254496" y="5833872"/>
            <a:ext cx="2157984" cy="256032"/>
          </a:xfrm>
          <a:prstGeom prst="roundRect">
            <a:avLst/>
          </a:prstGeom>
          <a:solidFill>
            <a:srgbClr val="F1F7FC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54496" y="5833872"/>
            <a:ext cx="21579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174069"/>
                </a:solidFill>
                <a:latin typeface="Arial"/>
              </a:rPr>
              <a:t>PostgreSQL en Neon</a:t>
            </a:r>
          </a:p>
        </p:txBody>
      </p:sp>
    </p:spTree>
    <p:extLst>
      <p:ext uri="{BB962C8B-B14F-4D97-AF65-F5344CB8AC3E}">
        <p14:creationId xmlns:p14="http://schemas.microsoft.com/office/powerpoint/2010/main" val="3288756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 err="1"/>
              <a:t>Preguntas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799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490DE1D59CF8418FDA5A26334C9654" ma:contentTypeVersion="13" ma:contentTypeDescription="Crear nuevo documento." ma:contentTypeScope="" ma:versionID="0947c955fb93921eafb35975722a95d7">
  <xsd:schema xmlns:xsd="http://www.w3.org/2001/XMLSchema" xmlns:xs="http://www.w3.org/2001/XMLSchema" xmlns:p="http://schemas.microsoft.com/office/2006/metadata/properties" xmlns:ns2="c2ef7064-63f7-4dcd-87f2-3580cf294d1c" xmlns:ns3="322f9391-964b-48b6-b3b0-13a7ac8a75d6" targetNamespace="http://schemas.microsoft.com/office/2006/metadata/properties" ma:root="true" ma:fieldsID="7a1f18c72603c702d1675a48c9701c9d" ns2:_="" ns3:_="">
    <xsd:import namespace="c2ef7064-63f7-4dcd-87f2-3580cf294d1c"/>
    <xsd:import namespace="322f9391-964b-48b6-b3b0-13a7ac8a75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f7064-63f7-4dcd-87f2-3580cf294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f9391-964b-48b6-b3b0-13a7ac8a75d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117467f-38fe-41e0-8cfe-bab1e1047489}" ma:internalName="TaxCatchAll" ma:showField="CatchAllData" ma:web="322f9391-964b-48b6-b3b0-13a7ac8a75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2f9391-964b-48b6-b3b0-13a7ac8a75d6" xsi:nil="true"/>
    <lcf76f155ced4ddcb4097134ff3c332f xmlns="c2ef7064-63f7-4dcd-87f2-3580cf294d1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12106B-37BE-4C1E-AB26-C55B17FF3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f7064-63f7-4dcd-87f2-3580cf294d1c"/>
    <ds:schemaRef ds:uri="322f9391-964b-48b6-b3b0-13a7ac8a7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B9B302-04BE-4B27-B4FA-2CC6AEBC618B}">
  <ds:schemaRefs>
    <ds:schemaRef ds:uri="http://schemas.microsoft.com/office/2006/metadata/properties"/>
    <ds:schemaRef ds:uri="http://schemas.microsoft.com/office/infopath/2007/PartnerControls"/>
    <ds:schemaRef ds:uri="322f9391-964b-48b6-b3b0-13a7ac8a75d6"/>
    <ds:schemaRef ds:uri="c2ef7064-63f7-4dcd-87f2-3580cf294d1c"/>
  </ds:schemaRefs>
</ds:datastoreItem>
</file>

<file path=customXml/itemProps3.xml><?xml version="1.0" encoding="utf-8"?>
<ds:datastoreItem xmlns:ds="http://schemas.openxmlformats.org/officeDocument/2006/customXml" ds:itemID="{585E63E6-39DE-4245-B876-44236A6402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5813</TotalTime>
  <Words>645</Words>
  <Application>Microsoft Office PowerPoint</Application>
  <PresentationFormat>Presentación en pantalla (4:3)</PresentationFormat>
  <Paragraphs>164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Franklin Gothic</vt:lpstr>
      <vt:lpstr>Roboto Condensed</vt:lpstr>
      <vt:lpstr>Arial</vt:lpstr>
      <vt:lpstr>Calibri</vt:lpstr>
      <vt:lpstr>Aptos</vt:lpstr>
      <vt:lpstr>Bebas Neue</vt:lpstr>
      <vt:lpstr>Tema de Office</vt:lpstr>
      <vt:lpstr>Fase 1 Proyecto APT ServiciosYa  Docente: Reginaldo Salinas Bruna Grupo Nº: IN03 Integrante: Pablo Vargas Vasquez</vt:lpstr>
      <vt:lpstr>Descripción breve del proyecto APT</vt:lpstr>
      <vt:lpstr>Descripción del proyecto</vt:lpstr>
      <vt:lpstr>Relación con el perfil de egreso</vt:lpstr>
      <vt:lpstr>Relación con Perfil</vt:lpstr>
      <vt:lpstr>Factibilidad del proyecto en la asignatura</vt:lpstr>
      <vt:lpstr>Factibilidad del Proyecto</vt:lpstr>
      <vt:lpstr>Objetivos del proyecto</vt:lpstr>
      <vt:lpstr>Objetivos del Proyecto</vt:lpstr>
      <vt:lpstr>Metodología de trabajo</vt:lpstr>
      <vt:lpstr>Metodologías del Proyecto</vt:lpstr>
      <vt:lpstr>Plan de trabajo</vt:lpstr>
      <vt:lpstr>Presentación de PowerPoint</vt:lpstr>
      <vt:lpstr>Evidencias esperadas</vt:lpstr>
      <vt:lpstr>Evidencias Esperadas del Proyecto</vt:lpstr>
      <vt:lpstr>Herramientas</vt:lpstr>
      <vt:lpstr> 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</dc:title>
  <dc:creator>Victor Rodrigo Galaz Silva</dc:creator>
  <cp:lastModifiedBy>Pablo Vargas</cp:lastModifiedBy>
  <cp:revision>336</cp:revision>
  <dcterms:created xsi:type="dcterms:W3CDTF">2020-01-19T17:40:32Z</dcterms:created>
  <dcterms:modified xsi:type="dcterms:W3CDTF">2026-09-02T22:56:03Z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